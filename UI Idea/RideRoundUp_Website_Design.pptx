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the visual companion to the written specification. Every screen here is a real rendered design at 1440x900, not a wireframe — the intent is that the dev team can see exactly what they are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team remembers one thing from this deck, it should be this slide. The visual identity exists to serve the cost-transparency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Palette was chosen against the brief, not from a template. Amber is deliberately rationed so that when the user sees it, it always means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hero is a thesis, not a carousel. Carousels have near-zero engagement and wreck the LCP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answers the "how will we stand out from competitors" question from the team ideation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refusal in the second exchange is deliberate and should survive to production. An assistant that guesses about a gearbox is a liability, not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Paras should sign these off individually before public launch — that is written into the launch gates in the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vehicle data source question is the single biggest schedule risk in the project. It needs an answer before engineering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371600"/>
            <a:ext cx="6949440" cy="6949440"/>
          </a:xfrm>
          <a:prstGeom prst="ellipse">
            <a:avLst/>
          </a:prstGeom>
          <a:solidFill>
            <a:srgbClr val="0D3B49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108960"/>
            <a:ext cx="4754880" cy="4754880"/>
          </a:xfrm>
          <a:prstGeom prst="ellipse">
            <a:avLst/>
          </a:prstGeom>
          <a:solidFill>
            <a:srgbClr val="134D5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5669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</a:t>
            </a:r>
            <a:pPr indent="0" marL="0">
              <a:buNone/>
            </a:pPr>
            <a:r>
              <a:rPr lang="en-US" sz="2200" b="1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" y="20848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DIRECTION  ·  AUGUST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design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screen walkthrough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422452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screens showing how the RideRoundUp specification looks and behaves — built from the strategy thesis, the product vision, the UI feedback and the team ideation notes.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5349240"/>
            <a:ext cx="2011680" cy="0"/>
          </a:xfrm>
          <a:prstGeom prst="line">
            <a:avLst/>
          </a:prstGeom>
          <a:noFill/>
          <a:ln w="31750">
            <a:solidFill>
              <a:srgbClr val="E894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55321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development team  ·  Companion to the written build specification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DESIGN COMES FROM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documents, one build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contributed something the others were missing. The design below is the merge — not a compromise.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276148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thesis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6656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" y="257860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first on a multi-market architecture. Phase 1 stays narrow: discover, compare, decide, connect.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627632"/>
            <a:ext cx="276148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list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257860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modules become a sequenced backlog. Nothing was deleted — items moved to later phases.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1627632"/>
            <a:ext cx="276148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Paras’ UI feedback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55664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55664" y="257860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spacing, logo, font, card USPs, hover gallery. All seven points are launch blockers here.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25712" y="1627632"/>
            <a:ext cx="2761488" cy="2395728"/>
          </a:xfrm>
          <a:prstGeom prst="roundRect">
            <a:avLst>
              <a:gd name="adj" fmla="val 3053"/>
            </a:avLst>
          </a:prstGeom>
          <a:solidFill>
            <a:srgbClr val="FDF3E4"/>
          </a:solidFill>
          <a:ln w="12700">
            <a:solidFill>
              <a:srgbClr val="F0D5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6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ideation notes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5168" y="2103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45168" y="257860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 and hidden cost in Dubai. This became the spine of the whole design.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11283696" cy="2084832"/>
          </a:xfrm>
          <a:prstGeom prst="roundRect">
            <a:avLst>
              <a:gd name="adj" fmla="val 4386"/>
            </a:avLst>
          </a:prstGeom>
          <a:solidFill>
            <a:srgbClr val="072830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5537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DECISION EVERYTHING ELSE FOLLOWS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47914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honesty is the product, not a feature.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86384" y="52852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in the region shows what a car actually costs to run and register. Every screen in this deck carries that idea — the card, the listing, the comparison, the assistant. It is cheap to build, impossible to fake, and it is the reason a first-time buyer trusts us over DubiCars.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automotive red-and-black. Deep petrol carries the trust, amber is reserved almost entirely for cost information.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70432" cy="1170432"/>
          </a:xfrm>
          <a:prstGeom prst="roundRect">
            <a:avLst>
              <a:gd name="adj" fmla="val 6250"/>
            </a:avLst>
          </a:prstGeom>
          <a:solidFill>
            <a:srgbClr val="0D3B49"/>
          </a:solidFill>
          <a:ln w="12700">
            <a:solidFill>
              <a:srgbClr val="0D3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95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#0D3B49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1645920"/>
            <a:ext cx="1170432" cy="1170432"/>
          </a:xfrm>
          <a:prstGeom prst="roundRect">
            <a:avLst>
              <a:gd name="adj" fmla="val 6250"/>
            </a:avLst>
          </a:prstGeom>
          <a:solidFill>
            <a:srgbClr val="072830"/>
          </a:solidFill>
          <a:ln w="12700">
            <a:solidFill>
              <a:srgbClr val="072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28895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55648" y="30906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55648" y="32735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#072830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54096" y="1645920"/>
            <a:ext cx="1170432" cy="1170432"/>
          </a:xfrm>
          <a:prstGeom prst="roundRect">
            <a:avLst>
              <a:gd name="adj" fmla="val 6250"/>
            </a:avLst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8895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54096" y="30906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only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54096" y="32735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#E8942B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52544" y="1645920"/>
            <a:ext cx="1170432" cy="1170432"/>
          </a:xfrm>
          <a:prstGeom prst="roundRect">
            <a:avLst>
              <a:gd name="adj" fmla="val 6250"/>
            </a:avLst>
          </a:prstGeom>
          <a:solidFill>
            <a:srgbClr val="12805C"/>
          </a:solidFill>
          <a:ln w="12700">
            <a:solidFill>
              <a:srgbClr val="1280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28895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52544" y="30906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52544" y="32735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#12805C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50992" y="1645920"/>
            <a:ext cx="1170432" cy="1170432"/>
          </a:xfrm>
          <a:prstGeom prst="roundRect">
            <a:avLst>
              <a:gd name="adj" fmla="val 6250"/>
            </a:avLst>
          </a:prstGeom>
          <a:solidFill>
            <a:srgbClr val="C4451D"/>
          </a:solidFill>
          <a:ln w="12700">
            <a:solidFill>
              <a:srgbClr val="C445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28895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50992" y="30906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50992" y="32735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#C4451D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645920"/>
            <a:ext cx="1170432" cy="1170432"/>
          </a:xfrm>
          <a:prstGeom prst="roundRect">
            <a:avLst>
              <a:gd name="adj" fmla="val 6250"/>
            </a:avLst>
          </a:prstGeom>
          <a:solidFill>
            <a:srgbClr val="F4F6F7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8895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0906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327355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#F4F6F7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47888" y="1645920"/>
            <a:ext cx="0" cy="1828800"/>
          </a:xfrm>
          <a:prstGeom prst="line">
            <a:avLst/>
          </a:prstGeom>
          <a:noFill/>
          <a:ln w="12700">
            <a:solidFill>
              <a:srgbClr val="E1E7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22208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22208" y="19202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 285,000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522208" y="2359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— geometric sans with tabular figures. A price column set in proportional numerals looks broken.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22208" y="3035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sits at 14px / 1.5 on a strict 9-step scale. Arabic uses a weight-matched companion, not a fallback.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5486400" cy="2615184"/>
          </a:xfrm>
          <a:prstGeom prst="roundRect">
            <a:avLst>
              <a:gd name="adj" fmla="val 3497"/>
            </a:avLst>
          </a:prstGeom>
          <a:solidFill>
            <a:srgbClr val="FDF3E4"/>
          </a:solidFill>
          <a:ln w="12700">
            <a:solidFill>
              <a:srgbClr val="F0D5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9867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96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 ELEMENT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4206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receipt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3232" y="4663440"/>
            <a:ext cx="4974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8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repeated device carries the brand: an itemised, dashed-rule receipt showing every dirham. It appears on cards, listing pages, comparisons and the phone. When someone describes RideRoundUp to a friend, this is the thing they describe.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54496" y="3749040"/>
            <a:ext cx="5486400" cy="26151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968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cannot be broken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10528" y="4334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4334256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renders without its date. Enforced in the price component itself.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10528" y="4727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4727448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placements are labelled and capped at one in eight results.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10528" y="5120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66560" y="5120640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answers from our data or says it does not know.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0528" y="5513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6560" y="5513832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nav items, 64px tall. Fewer items, never smaller type.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10528" y="5907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66560" y="5907024"/>
            <a:ext cx="4700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AA, full RTL, reduced-motion respected on the card gallery.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visitor picks one of four paths within eight seconds.</a:t>
            </a:r>
            <a:endParaRPr lang="en-US" sz="1250" dirty="0"/>
          </a:p>
        </p:txBody>
      </p:sp>
      <p:pic>
        <p:nvPicPr>
          <p:cNvPr id="5" name="Image 0" descr="/home/claude/mock/img/s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promise, stated plainly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commits to the differentiator instead of describing the category.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39115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322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accepts real language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 seater under 150k" resolves budget, seats and market in one query.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34213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273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carry running cost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5112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shows monthly cost to own beneath the price — the amber row.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29310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224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chips are derived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4622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structured fields, never free text a dealer can write.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 no regional competitor has. This is the moat.</a:t>
            </a:r>
            <a:endParaRPr lang="en-US" sz="1250" dirty="0"/>
          </a:p>
        </p:txBody>
      </p:sp>
      <p:pic>
        <p:nvPicPr>
          <p:cNvPr id="5" name="Image 0" descr="/home/claude/mock/img/s-hom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Itemised, not summarised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line items, each adjustable, each with a visible assumption.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39115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322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costs surfaced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Transfer, plate, first-year insurance, bank processing — AED 7,650 people get ambushed by.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52501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4564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comparison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69417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single number into a decision. Also generates thousands of long-tail SEO pages.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47598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4074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dates shown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rate, insurance basis and depreciation curve are all cited underneath.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car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ordered the way people actually shop, not the way the database is structured.</a:t>
            </a:r>
            <a:endParaRPr lang="en-US" sz="1250" dirty="0"/>
          </a:p>
        </p:txBody>
      </p:sp>
      <p:pic>
        <p:nvPicPr>
          <p:cNvPr id="5" name="Image 0" descr="/home/claude/mock/img/s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vs imported spec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UAE-critical filter most global platforms omit entirely. It affects resale by double digits.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57403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505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cost to own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 option no competitor offers, and the one first-time buyers want most.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52501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4564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live in the URL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69417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shareable and back-button safe. Also indexable.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47598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4074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tray persists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up to four cars across navigation, syncing to the account on login.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detail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enquiry happens. Every trust rule in the spec is visible here.</a:t>
            </a:r>
            <a:endParaRPr lang="en-US" sz="1250" dirty="0"/>
          </a:p>
        </p:txBody>
      </p:sp>
      <p:pic>
        <p:nvPicPr>
          <p:cNvPr id="5" name="Image 0" descr="/home/claude/mock/img/s-vd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with a confirmed 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ages past 45 days the UI says so rather than quietly showing a stale number.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39115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322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in context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"AED 12,400 below the Dubai average", with the 28 comparables expandable.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34213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273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panel before the CTA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5112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sees the true monthly figure before they are asked to enquire.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29310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224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response time shown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4622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the SLA is what makes dealers answer, and what makes leads worth paying for.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 identified this as an underserved USP. Two changes make ours better.</a:t>
            </a:r>
            <a:endParaRPr lang="en-US" sz="1250" dirty="0"/>
          </a:p>
        </p:txBody>
      </p:sp>
      <p:pic>
        <p:nvPicPr>
          <p:cNvPr id="5" name="Image 0" descr="/home/claude/mock/img/s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and four cars, not two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notes asked for this directly. Most competitors cap at two.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39115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322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Differences only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every identical row. The header shows what was hidden so nothing feels lost.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34213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273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own is a row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5112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price and running cost sit side by side and rank differently — which is the insight.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47598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4074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 are rule-based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on running cost" comes from defined rules, never generated prose.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car finder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questions for the buyer who does not know what they want yet.</a:t>
            </a:r>
            <a:endParaRPr lang="en-US" sz="1250" dirty="0"/>
          </a:p>
        </p:txBody>
      </p:sp>
      <p:pic>
        <p:nvPicPr>
          <p:cNvPr id="5" name="Image 0" descr="/home/claude/mock/img/s-fi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match score with a reason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 came from the team notes. The sentence beneath is what makes it credible.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39115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322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and save options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above budget with the delta stated, one below. Mirrors how people actually decide.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34213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273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Exclusions are shown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5112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 user what we ruled out, and why, is what separates advice from advertising.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29310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224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with no dealer on the call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4622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explicitly, because that is the whole value of the offer.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Retrieval-grounded. It cites its sources and refuses what it should not answer.</a:t>
            </a:r>
            <a:endParaRPr lang="en-US" sz="1250" dirty="0"/>
          </a:p>
        </p:txBody>
      </p:sp>
      <p:pic>
        <p:nvPicPr>
          <p:cNvPr id="5" name="Image 0" descr="/home/claude/mock/img/s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made visible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mileage, fuel rate and insurance basis are shown, not buried.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39115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322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with timestamps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factual answer names the spec sheet and the date it was verified.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34213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273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refuses diagnosis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5112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exchange shows the guardrail: no mechanical diagnosis, escalate to a human.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29310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224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creates tickets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4622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thumbs-down opens a content-gap task. The assistant doubles as product research.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portal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side. Dealers pay for qualified leads, so qualification is visible.</a:t>
            </a:r>
            <a:endParaRPr lang="en-US" sz="1250" dirty="0"/>
          </a:p>
        </p:txBody>
      </p:sp>
      <p:pic>
        <p:nvPicPr>
          <p:cNvPr id="5" name="Image 0" descr="/home/claude/mock/img/s-dea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not raw clicks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Timeframe, finance need and trade-in travel with the lead. This is what makes it sellable.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57403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505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timer on every row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working hours, then it escalates to a RideRoundUp advisor automatically.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52501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4564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score is public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69417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on the dealer’s profile page. Dealers are told this at onboarding.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47598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4074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is impossible to miss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rows tinted, a counter in the stats strip, and a stated escalation time.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at 390px first. Over 70% of UAE car search happens here.</a:t>
            </a:r>
            <a:endParaRPr lang="en-US" sz="1250" dirty="0"/>
          </a:p>
        </p:txBody>
      </p:sp>
      <p:pic>
        <p:nvPicPr>
          <p:cNvPr id="5" name="Image 0" descr="/home/claude/mock/img/s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7863840" cy="49149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E1416">
                <a:alpha val="2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613648" y="1440180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3716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has no mobile equivalent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33104" y="160934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card gallery becomes a swipeable strip with position dots.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13648" y="2391156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3225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receipt travels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33104" y="2560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can open the true monthly cost while standing on the forecourt.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13648" y="3342132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327355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as a bottom sheet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33104" y="35112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desktop sidebar squeezed onto a phone.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13648" y="4293108"/>
            <a:ext cx="82296" cy="82296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224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mirrors fully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33104" y="44622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flips; prices stay in Western numerals so they remain scannable.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FEEDBACK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in the feedback document, answered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are launch blockers, not polish. A bad navbar and a weak card suppress the click-through the entire business model depends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1283696" cy="603504"/>
          </a:xfrm>
          <a:prstGeom prst="roundRect">
            <a:avLst>
              <a:gd name="adj" fmla="val 909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013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180136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and logo should be updated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70832" y="176479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wordmark with a standalone monogram; display + body + Arabic companion, all weight-matched.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11283696" cy="603504"/>
          </a:xfrm>
          <a:prstGeom prst="roundRect">
            <a:avLst>
              <a:gd name="adj" fmla="val 909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780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247802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 has dead space and bad spacing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70832" y="24414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items, 64px, 32px gaps, utilities right-aligned. If items don’t fit, remove items — never shrink type.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1283696" cy="603504"/>
          </a:xfrm>
          <a:prstGeom prst="roundRect">
            <a:avLst>
              <a:gd name="adj" fmla="val 909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54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315468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classification needs sub-headers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70832" y="311810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hubs by body, budget, fuel, seats and use case. Fixes navigation and becomes the strongest SEO asset.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11283696" cy="603504"/>
          </a:xfrm>
          <a:prstGeom prst="roundRect">
            <a:avLst>
              <a:gd name="adj" fmla="val 909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31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8313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need USPs and hover images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70832" y="379476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USP chips plus a four-image marquee on 300ms hover intent, with reduced-motion respected.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334256"/>
            <a:ext cx="11283696" cy="603504"/>
          </a:xfrm>
          <a:prstGeom prst="roundRect">
            <a:avLst>
              <a:gd name="adj" fmla="val 909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5079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450799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UI, Carvana as reference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70832" y="447141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Whitespace, one action per card, restrained colour and large legible pricing — taken. The layout is our own.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010912"/>
            <a:ext cx="11283696" cy="603504"/>
          </a:xfrm>
          <a:prstGeom prst="roundRect">
            <a:avLst>
              <a:gd name="adj" fmla="val 909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5184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" y="51846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and social tagging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70832" y="514807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and Open Graph cards ship now. Moderated forums wait until moderation staff exist.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687568"/>
            <a:ext cx="11283696" cy="603504"/>
          </a:xfrm>
          <a:prstGeom prst="roundRect">
            <a:avLst>
              <a:gd name="adj" fmla="val 909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861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0976" y="586130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not needed this phase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70832" y="58247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Agreed. Calculators and education only — no applications, no partner routing.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SEQUENCE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built, in what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weeks to public launch with a team of six to eight. The data model and the vehicle card block almost everything else — over-invest in both.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212848" cy="301752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01952"/>
            <a:ext cx="384048" cy="54864"/>
          </a:xfrm>
          <a:prstGeom prst="rect">
            <a:avLst/>
          </a:prstGeom>
          <a:solidFill>
            <a:srgbClr val="0D3B49"/>
          </a:solidFill>
          <a:ln w="12700">
            <a:solidFill>
              <a:srgbClr val="0D3B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" y="2322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2761488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design tokens, component library, vehicle PIM, search index.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691640"/>
            <a:ext cx="2212848" cy="301752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8376" y="1901952"/>
            <a:ext cx="384048" cy="54864"/>
          </a:xfrm>
          <a:prstGeom prst="rect">
            <a:avLst/>
          </a:prstGeom>
          <a:solidFill>
            <a:srgbClr val="0D3B49"/>
          </a:solidFill>
          <a:ln w="12700">
            <a:solidFill>
              <a:srgbClr val="0D3B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5–10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08376" y="2322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08376" y="2761488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card, new car pages, used listings, dealer profiles, universal search, comparison.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691640"/>
            <a:ext cx="2212848" cy="3017520"/>
          </a:xfrm>
          <a:prstGeom prst="roundRect">
            <a:avLst>
              <a:gd name="adj" fmla="val 3306"/>
            </a:avLst>
          </a:prstGeom>
          <a:solidFill>
            <a:srgbClr val="FDF3E4"/>
          </a:solidFill>
          <a:ln w="12700">
            <a:solidFill>
              <a:srgbClr val="F0D5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0096" y="1901952"/>
            <a:ext cx="384048" cy="54864"/>
          </a:xfrm>
          <a:prstGeom prst="rect">
            <a:avLst/>
          </a:prstGeom>
          <a:solidFill>
            <a:srgbClr val="E8942B"/>
          </a:solidFill>
          <a:ln w="12700">
            <a:solidFill>
              <a:srgbClr val="E894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B96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40096" y="2322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0096" y="2761488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8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Own engine and pages, accounts, saved searches, alerts, minimal Garage.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1691640"/>
            <a:ext cx="2212848" cy="301752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71816" y="1901952"/>
            <a:ext cx="384048" cy="54864"/>
          </a:xfrm>
          <a:prstGeom prst="rect">
            <a:avLst/>
          </a:prstGeom>
          <a:solidFill>
            <a:srgbClr val="0D3B49"/>
          </a:solidFill>
          <a:ln w="12700">
            <a:solidFill>
              <a:srgbClr val="0D3B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71816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17–22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71816" y="2322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71816" y="2761488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portal and SLA, guided finder, AI assistant, CMS, content hub, Arabic pass.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0" y="1691640"/>
            <a:ext cx="2212848" cy="301752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03536" y="1901952"/>
            <a:ext cx="384048" cy="54864"/>
          </a:xfrm>
          <a:prstGeom prst="rect">
            <a:avLst/>
          </a:prstGeom>
          <a:solidFill>
            <a:srgbClr val="0D3B49"/>
          </a:solidFill>
          <a:ln w="12700">
            <a:solidFill>
              <a:srgbClr val="0D3B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03536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23–26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03536" y="2322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03536" y="2761488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and performance hardening, accessibility, dealer beta, launch-gate verification.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11283696" cy="1408176"/>
          </a:xfrm>
          <a:prstGeom prst="roundRect">
            <a:avLst>
              <a:gd name="adj" fmla="val 6494"/>
            </a:avLst>
          </a:prstGeom>
          <a:solidFill>
            <a:srgbClr val="072830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Sprint 0 can start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8096" y="5449824"/>
            <a:ext cx="10607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vehicle data come from — licensed feed, manual entry, or both?    ·    Is the current site being replaced or refactored?    ·    Is the logo and typography commissioned?    ·    Which five to ten dealers are in the pilot?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926080"/>
            <a:ext cx="6583680" cy="6583680"/>
          </a:xfrm>
          <a:prstGeom prst="ellipse">
            <a:avLst/>
          </a:prstGeom>
          <a:solidFill>
            <a:srgbClr val="0D3B4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1371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hold onto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49808" y="25968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81328" y="257860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UAE properly before touching India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29077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catalogue is smaller, the dealers are nearby, and bilingual forces the localisation to be built correctly the first time.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37124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369417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vehicle data model like an asset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81328" y="40233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Comparison, the assistant, valuation and SEO all inherit its errors. A weak hierarchy is the most expensive mistake available.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4828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480974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depth on ten modules, not breadth on twenty-nine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81328" y="51389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cut — it was sequenced. Shallow breadth loses to CarDekho and DubiCars on every axis at once.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" y="5943600"/>
            <a:ext cx="2011680" cy="0"/>
          </a:xfrm>
          <a:prstGeom prst="line">
            <a:avLst/>
          </a:prstGeom>
          <a:noFill/>
          <a:ln w="31750">
            <a:solidFill>
              <a:srgbClr val="E894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6108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the written build specification  ·  RideRoundUp_Website_Spec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RideRoundUp — Website Design &amp; Frontend Direction</dc:title>
  <dc:subject>PptxGenJS Presentation</dc:subject>
  <dc:creator>RideRoundUp</dc:creator>
  <cp:lastModifiedBy>RideRoundUp</cp:lastModifiedBy>
  <cp:revision>1</cp:revision>
  <dcterms:created xsi:type="dcterms:W3CDTF">2026-08-08T11:38:49Z</dcterms:created>
  <dcterms:modified xsi:type="dcterms:W3CDTF">2026-08-08T11:38:49Z</dcterms:modified>
</cp:coreProperties>
</file>